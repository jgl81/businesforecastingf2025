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6" r:id="rId9"/>
    <p:sldId id="265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E4FF"/>
    <a:srgbClr val="B9BED5"/>
    <a:srgbClr val="CAE3FF"/>
    <a:srgbClr val="404B89"/>
    <a:srgbClr val="788CFF"/>
    <a:srgbClr val="A5CA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82"/>
  </p:normalViewPr>
  <p:slideViewPr>
    <p:cSldViewPr snapToGrid="0">
      <p:cViewPr varScale="1">
        <p:scale>
          <a:sx n="119" d="100"/>
          <a:sy n="119" d="100"/>
        </p:scale>
        <p:origin x="3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D93819B-A7B9-4B96-829E-D4D32AC7215A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D13C55FA-23BF-4AC4-841C-B05E0CB5F86D}">
      <dgm:prSet/>
      <dgm:spPr>
        <a:solidFill>
          <a:schemeClr val="bg1">
            <a:alpha val="90000"/>
          </a:schemeClr>
        </a:solidFill>
      </dgm:spPr>
      <dgm:t>
        <a:bodyPr/>
        <a:lstStyle/>
        <a:p>
          <a:r>
            <a:rPr lang="en-US"/>
            <a:t>Forecast the change in Total Jobs (Private and Government ) each month </a:t>
          </a:r>
        </a:p>
      </dgm:t>
    </dgm:pt>
    <dgm:pt modelId="{17EAA19A-36C6-4B9A-A46F-8510D353A94D}" type="parTrans" cxnId="{14D27629-0917-4CD2-817E-4B52C4E88773}">
      <dgm:prSet/>
      <dgm:spPr/>
      <dgm:t>
        <a:bodyPr/>
        <a:lstStyle/>
        <a:p>
          <a:endParaRPr lang="en-US"/>
        </a:p>
      </dgm:t>
    </dgm:pt>
    <dgm:pt modelId="{7FD179FF-98C4-46D9-A6AB-C370637A9CB2}" type="sibTrans" cxnId="{14D27629-0917-4CD2-817E-4B52C4E88773}">
      <dgm:prSet/>
      <dgm:spPr/>
      <dgm:t>
        <a:bodyPr/>
        <a:lstStyle/>
        <a:p>
          <a:endParaRPr lang="en-US"/>
        </a:p>
      </dgm:t>
    </dgm:pt>
    <dgm:pt modelId="{538BE3BF-B304-4147-9B96-9021392CFC88}">
      <dgm:prSet/>
      <dgm:spPr>
        <a:solidFill>
          <a:schemeClr val="bg1">
            <a:alpha val="90000"/>
          </a:schemeClr>
        </a:solidFill>
      </dgm:spPr>
      <dgm:t>
        <a:bodyPr/>
        <a:lstStyle/>
        <a:p>
          <a:r>
            <a:rPr lang="en-US" dirty="0"/>
            <a:t>Early Recruiting sparked my interest in how organizations forecast future staffing needs</a:t>
          </a:r>
        </a:p>
      </dgm:t>
    </dgm:pt>
    <dgm:pt modelId="{1011A105-BF07-4472-9248-12E7A436DE80}" type="parTrans" cxnId="{2F9591F7-67CD-4D7D-B3EA-419C2A77D777}">
      <dgm:prSet/>
      <dgm:spPr/>
      <dgm:t>
        <a:bodyPr/>
        <a:lstStyle/>
        <a:p>
          <a:endParaRPr lang="en-US"/>
        </a:p>
      </dgm:t>
    </dgm:pt>
    <dgm:pt modelId="{3ADA9077-74E3-4AA4-9003-AB1A442BA9E8}" type="sibTrans" cxnId="{2F9591F7-67CD-4D7D-B3EA-419C2A77D777}">
      <dgm:prSet/>
      <dgm:spPr/>
      <dgm:t>
        <a:bodyPr/>
        <a:lstStyle/>
        <a:p>
          <a:endParaRPr lang="en-US"/>
        </a:p>
      </dgm:t>
    </dgm:pt>
    <dgm:pt modelId="{D5059741-2714-0847-9F9A-B74AFC33E581}" type="pres">
      <dgm:prSet presAssocID="{6D93819B-A7B9-4B96-829E-D4D32AC7215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B75A8EB-E82D-5F40-AB0F-AEC063C6942A}" type="pres">
      <dgm:prSet presAssocID="{D13C55FA-23BF-4AC4-841C-B05E0CB5F86D}" presName="hierRoot1" presStyleCnt="0"/>
      <dgm:spPr/>
    </dgm:pt>
    <dgm:pt modelId="{8A5DA851-EF02-7648-83B4-503559DDFEBF}" type="pres">
      <dgm:prSet presAssocID="{D13C55FA-23BF-4AC4-841C-B05E0CB5F86D}" presName="composite" presStyleCnt="0"/>
      <dgm:spPr/>
    </dgm:pt>
    <dgm:pt modelId="{D32B5843-2443-0A4B-96C9-1D8C83547C20}" type="pres">
      <dgm:prSet presAssocID="{D13C55FA-23BF-4AC4-841C-B05E0CB5F86D}" presName="background" presStyleLbl="node0" presStyleIdx="0" presStyleCnt="2"/>
      <dgm:spPr>
        <a:solidFill>
          <a:srgbClr val="B9BED5"/>
        </a:solidFill>
      </dgm:spPr>
    </dgm:pt>
    <dgm:pt modelId="{FE93F395-DC85-634D-8EB4-689AEB13C93F}" type="pres">
      <dgm:prSet presAssocID="{D13C55FA-23BF-4AC4-841C-B05E0CB5F86D}" presName="text" presStyleLbl="fgAcc0" presStyleIdx="0" presStyleCnt="2">
        <dgm:presLayoutVars>
          <dgm:chPref val="3"/>
        </dgm:presLayoutVars>
      </dgm:prSet>
      <dgm:spPr/>
    </dgm:pt>
    <dgm:pt modelId="{8735E4C8-F92A-4946-8F9F-FCFD428BC651}" type="pres">
      <dgm:prSet presAssocID="{D13C55FA-23BF-4AC4-841C-B05E0CB5F86D}" presName="hierChild2" presStyleCnt="0"/>
      <dgm:spPr/>
    </dgm:pt>
    <dgm:pt modelId="{F7318E74-5B22-3246-8EF8-A83EC741DA50}" type="pres">
      <dgm:prSet presAssocID="{538BE3BF-B304-4147-9B96-9021392CFC88}" presName="hierRoot1" presStyleCnt="0"/>
      <dgm:spPr/>
    </dgm:pt>
    <dgm:pt modelId="{4DD75A1B-A96A-FF46-92D8-E65601774D7B}" type="pres">
      <dgm:prSet presAssocID="{538BE3BF-B304-4147-9B96-9021392CFC88}" presName="composite" presStyleCnt="0"/>
      <dgm:spPr/>
    </dgm:pt>
    <dgm:pt modelId="{40F38035-426B-A44E-94F0-A5CD3DC79306}" type="pres">
      <dgm:prSet presAssocID="{538BE3BF-B304-4147-9B96-9021392CFC88}" presName="background" presStyleLbl="node0" presStyleIdx="1" presStyleCnt="2"/>
      <dgm:spPr>
        <a:solidFill>
          <a:srgbClr val="B9BED5"/>
        </a:solidFill>
      </dgm:spPr>
    </dgm:pt>
    <dgm:pt modelId="{F34AD37B-0777-B544-8045-8C796A533F0C}" type="pres">
      <dgm:prSet presAssocID="{538BE3BF-B304-4147-9B96-9021392CFC88}" presName="text" presStyleLbl="fgAcc0" presStyleIdx="1" presStyleCnt="2">
        <dgm:presLayoutVars>
          <dgm:chPref val="3"/>
        </dgm:presLayoutVars>
      </dgm:prSet>
      <dgm:spPr/>
    </dgm:pt>
    <dgm:pt modelId="{F2B8BDAF-345B-0542-B89A-F9068EB5C943}" type="pres">
      <dgm:prSet presAssocID="{538BE3BF-B304-4147-9B96-9021392CFC88}" presName="hierChild2" presStyleCnt="0"/>
      <dgm:spPr/>
    </dgm:pt>
  </dgm:ptLst>
  <dgm:cxnLst>
    <dgm:cxn modelId="{CE21F606-8A83-3849-803F-55B7F96DE4CC}" type="presOf" srcId="{D13C55FA-23BF-4AC4-841C-B05E0CB5F86D}" destId="{FE93F395-DC85-634D-8EB4-689AEB13C93F}" srcOrd="0" destOrd="0" presId="urn:microsoft.com/office/officeart/2005/8/layout/hierarchy1"/>
    <dgm:cxn modelId="{3D759D22-A879-EB48-ACB6-1C4DA3A8BAE7}" type="presOf" srcId="{538BE3BF-B304-4147-9B96-9021392CFC88}" destId="{F34AD37B-0777-B544-8045-8C796A533F0C}" srcOrd="0" destOrd="0" presId="urn:microsoft.com/office/officeart/2005/8/layout/hierarchy1"/>
    <dgm:cxn modelId="{14D27629-0917-4CD2-817E-4B52C4E88773}" srcId="{6D93819B-A7B9-4B96-829E-D4D32AC7215A}" destId="{D13C55FA-23BF-4AC4-841C-B05E0CB5F86D}" srcOrd="0" destOrd="0" parTransId="{17EAA19A-36C6-4B9A-A46F-8510D353A94D}" sibTransId="{7FD179FF-98C4-46D9-A6AB-C370637A9CB2}"/>
    <dgm:cxn modelId="{487589EA-C0AA-AC44-81D2-4B200E5994D6}" type="presOf" srcId="{6D93819B-A7B9-4B96-829E-D4D32AC7215A}" destId="{D5059741-2714-0847-9F9A-B74AFC33E581}" srcOrd="0" destOrd="0" presId="urn:microsoft.com/office/officeart/2005/8/layout/hierarchy1"/>
    <dgm:cxn modelId="{2F9591F7-67CD-4D7D-B3EA-419C2A77D777}" srcId="{6D93819B-A7B9-4B96-829E-D4D32AC7215A}" destId="{538BE3BF-B304-4147-9B96-9021392CFC88}" srcOrd="1" destOrd="0" parTransId="{1011A105-BF07-4472-9248-12E7A436DE80}" sibTransId="{3ADA9077-74E3-4AA4-9003-AB1A442BA9E8}"/>
    <dgm:cxn modelId="{4D124416-5EC0-B749-A19A-499BB1A06A23}" type="presParOf" srcId="{D5059741-2714-0847-9F9A-B74AFC33E581}" destId="{BB75A8EB-E82D-5F40-AB0F-AEC063C6942A}" srcOrd="0" destOrd="0" presId="urn:microsoft.com/office/officeart/2005/8/layout/hierarchy1"/>
    <dgm:cxn modelId="{AC6ADED6-3024-A941-98AB-854C26C5E53F}" type="presParOf" srcId="{BB75A8EB-E82D-5F40-AB0F-AEC063C6942A}" destId="{8A5DA851-EF02-7648-83B4-503559DDFEBF}" srcOrd="0" destOrd="0" presId="urn:microsoft.com/office/officeart/2005/8/layout/hierarchy1"/>
    <dgm:cxn modelId="{48F0F83E-F502-884F-8FCA-7F817EA6599B}" type="presParOf" srcId="{8A5DA851-EF02-7648-83B4-503559DDFEBF}" destId="{D32B5843-2443-0A4B-96C9-1D8C83547C20}" srcOrd="0" destOrd="0" presId="urn:microsoft.com/office/officeart/2005/8/layout/hierarchy1"/>
    <dgm:cxn modelId="{4AA99EBC-5F64-A34A-BB26-774EE2D1FF13}" type="presParOf" srcId="{8A5DA851-EF02-7648-83B4-503559DDFEBF}" destId="{FE93F395-DC85-634D-8EB4-689AEB13C93F}" srcOrd="1" destOrd="0" presId="urn:microsoft.com/office/officeart/2005/8/layout/hierarchy1"/>
    <dgm:cxn modelId="{AC9DE94F-C2E3-D349-A639-EFAA27F9E206}" type="presParOf" srcId="{BB75A8EB-E82D-5F40-AB0F-AEC063C6942A}" destId="{8735E4C8-F92A-4946-8F9F-FCFD428BC651}" srcOrd="1" destOrd="0" presId="urn:microsoft.com/office/officeart/2005/8/layout/hierarchy1"/>
    <dgm:cxn modelId="{E6F29305-CC02-A543-BBDD-DB2A6ECC923B}" type="presParOf" srcId="{D5059741-2714-0847-9F9A-B74AFC33E581}" destId="{F7318E74-5B22-3246-8EF8-A83EC741DA50}" srcOrd="1" destOrd="0" presId="urn:microsoft.com/office/officeart/2005/8/layout/hierarchy1"/>
    <dgm:cxn modelId="{D3A25E0D-64A0-8544-8428-88EA6017011D}" type="presParOf" srcId="{F7318E74-5B22-3246-8EF8-A83EC741DA50}" destId="{4DD75A1B-A96A-FF46-92D8-E65601774D7B}" srcOrd="0" destOrd="0" presId="urn:microsoft.com/office/officeart/2005/8/layout/hierarchy1"/>
    <dgm:cxn modelId="{B8923D0F-2554-BB45-A218-D5F843682673}" type="presParOf" srcId="{4DD75A1B-A96A-FF46-92D8-E65601774D7B}" destId="{40F38035-426B-A44E-94F0-A5CD3DC79306}" srcOrd="0" destOrd="0" presId="urn:microsoft.com/office/officeart/2005/8/layout/hierarchy1"/>
    <dgm:cxn modelId="{919D79D2-27C2-3C48-A0FA-E6040EADCA2C}" type="presParOf" srcId="{4DD75A1B-A96A-FF46-92D8-E65601774D7B}" destId="{F34AD37B-0777-B544-8045-8C796A533F0C}" srcOrd="1" destOrd="0" presId="urn:microsoft.com/office/officeart/2005/8/layout/hierarchy1"/>
    <dgm:cxn modelId="{1FA620C5-5629-8F4D-91CC-6AC5A26303F0}" type="presParOf" srcId="{F7318E74-5B22-3246-8EF8-A83EC741DA50}" destId="{F2B8BDAF-345B-0542-B89A-F9068EB5C94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2B5843-2443-0A4B-96C9-1D8C83547C20}">
      <dsp:nvSpPr>
        <dsp:cNvPr id="0" name=""/>
        <dsp:cNvSpPr/>
      </dsp:nvSpPr>
      <dsp:spPr>
        <a:xfrm>
          <a:off x="134291" y="612"/>
          <a:ext cx="4332795" cy="2751325"/>
        </a:xfrm>
        <a:prstGeom prst="roundRect">
          <a:avLst>
            <a:gd name="adj" fmla="val 10000"/>
          </a:avLst>
        </a:prstGeom>
        <a:solidFill>
          <a:srgbClr val="B9BED5"/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93F395-DC85-634D-8EB4-689AEB13C93F}">
      <dsp:nvSpPr>
        <dsp:cNvPr id="0" name=""/>
        <dsp:cNvSpPr/>
      </dsp:nvSpPr>
      <dsp:spPr>
        <a:xfrm>
          <a:off x="615713" y="457963"/>
          <a:ext cx="4332795" cy="2751325"/>
        </a:xfrm>
        <a:prstGeom prst="roundRect">
          <a:avLst>
            <a:gd name="adj" fmla="val 10000"/>
          </a:avLst>
        </a:prstGeom>
        <a:solidFill>
          <a:schemeClr val="bg1">
            <a:alpha val="9000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Forecast the change in Total Jobs (Private and Government ) each month </a:t>
          </a:r>
        </a:p>
      </dsp:txBody>
      <dsp:txXfrm>
        <a:off x="696297" y="538547"/>
        <a:ext cx="4171627" cy="2590157"/>
      </dsp:txXfrm>
    </dsp:sp>
    <dsp:sp modelId="{40F38035-426B-A44E-94F0-A5CD3DC79306}">
      <dsp:nvSpPr>
        <dsp:cNvPr id="0" name=""/>
        <dsp:cNvSpPr/>
      </dsp:nvSpPr>
      <dsp:spPr>
        <a:xfrm>
          <a:off x="5429930" y="612"/>
          <a:ext cx="4332795" cy="2751325"/>
        </a:xfrm>
        <a:prstGeom prst="roundRect">
          <a:avLst>
            <a:gd name="adj" fmla="val 10000"/>
          </a:avLst>
        </a:prstGeom>
        <a:solidFill>
          <a:srgbClr val="B9BED5"/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4AD37B-0777-B544-8045-8C796A533F0C}">
      <dsp:nvSpPr>
        <dsp:cNvPr id="0" name=""/>
        <dsp:cNvSpPr/>
      </dsp:nvSpPr>
      <dsp:spPr>
        <a:xfrm>
          <a:off x="5911352" y="457963"/>
          <a:ext cx="4332795" cy="2751325"/>
        </a:xfrm>
        <a:prstGeom prst="roundRect">
          <a:avLst>
            <a:gd name="adj" fmla="val 10000"/>
          </a:avLst>
        </a:prstGeom>
        <a:solidFill>
          <a:schemeClr val="bg1">
            <a:alpha val="9000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Early Recruiting sparked my interest in how organizations forecast future staffing needs</a:t>
          </a:r>
        </a:p>
      </dsp:txBody>
      <dsp:txXfrm>
        <a:off x="5991936" y="538547"/>
        <a:ext cx="4171627" cy="25901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C4E712-8BE9-A54E-89C6-8BD23F20B87F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050A56-58B3-054D-9A29-97B12C4BB6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341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Important to note that this means you are regularly forecasting negative numbers </a:t>
            </a:r>
          </a:p>
          <a:p>
            <a:pPr marL="171450" indent="-171450">
              <a:buFontTx/>
              <a:buChar char="-"/>
            </a:pPr>
            <a:r>
              <a:rPr lang="en-US" dirty="0"/>
              <a:t>I signed my job 1+ before I was scheduled to start working, was curious how people predict their needs that far in advance, and so I wanted to learn more about predicting jobs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050A56-58B3-054D-9A29-97B12C4BB64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66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Snow issues, this is before work from home days, so there were a lot of people who met the conditions of “not working” that month which was </a:t>
            </a:r>
            <a:r>
              <a:rPr lang="en-US" dirty="0" err="1"/>
              <a:t>repsorted</a:t>
            </a:r>
            <a:r>
              <a:rPr lang="en-US" dirty="0"/>
              <a:t> as a net job loss, yet the next month they were reported as a new job added</a:t>
            </a:r>
          </a:p>
          <a:p>
            <a:r>
              <a:rPr lang="en-US" dirty="0"/>
              <a:t>ME smooths out the bad positive and negative periods, reference the 2010 period to discuss how the ME here would have been very low , yet neglect to reflect the error present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050A56-58B3-054D-9A29-97B12C4BB64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524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EA358-285A-67E3-1A9E-F2C83F61B7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40EC03-BB06-D66B-CDD6-FBC8199DAB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E0ACA-6AFF-A3CF-BEAD-F7A7C1317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1A8F6-2A0A-A941-B371-9DE66F44FA7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56D30-7B09-D929-F9B3-0A87BF6C9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2BBF8-981E-AC62-EA9F-35F43DE5B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D02D4-E9B3-2048-A0F4-B6FCED8136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106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DC94D-F070-1E9B-38A5-99965C246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7D3D0-2C43-A772-9B38-F108C5C363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E297F-F2C3-0CEA-93BD-811B18243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1A8F6-2A0A-A941-B371-9DE66F44FA7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E3B16-21C3-1543-F29F-7D53F246D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ED0DA-0534-17CB-6A36-932A91327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D02D4-E9B3-2048-A0F4-B6FCED8136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764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B4554-0B12-2363-8DAD-5EABFA999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D2AD05-BCD0-E21B-1854-30756CAB0A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7DDDF2-A402-C7CE-51F6-B6494597F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1A8F6-2A0A-A941-B371-9DE66F44FA7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40CB2-DED1-CB03-137D-F15726B4B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83C9A-4952-07B8-DE55-F63964A3A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D02D4-E9B3-2048-A0F4-B6FCED8136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008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B7A98-907A-985E-7324-882457C1C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A18BD-7771-D69B-7A2C-A285FE1A4F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AE2833-EBD0-496B-2BFA-4CF9C7F2A4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7EAEE9-65F5-10B8-A8D9-B700543F9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1A8F6-2A0A-A941-B371-9DE66F44FA7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FBB1C-81EE-8ECA-505A-1A9D784B0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027A18-DAF7-712D-7B37-79AB0A92E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D02D4-E9B3-2048-A0F4-B6FCED8136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26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76F26-60A5-4426-27F5-70C4EE234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0A6E20-50BA-5E62-BE6E-78D6855B64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ADDB8D-3E84-F564-CC37-DF184FE9AF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80E77C-3E24-71C4-ED4A-92D92ACFB2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81AF25-1077-1017-D46C-67898F37C3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A3FF8A-D7CE-7C59-B9A1-8BE29E703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1A8F6-2A0A-A941-B371-9DE66F44FA7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FD37B6-DF11-C8A0-4408-5F69CFF49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D916FE-F602-D96D-36BC-DFB18A8DC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D02D4-E9B3-2048-A0F4-B6FCED8136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221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710C-E284-F841-4B17-7EB922288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F18119-03A8-F7B4-6EA4-998DE0055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1A8F6-2A0A-A941-B371-9DE66F44FA7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9F92D3-ABBA-691E-7BBB-5CF4073D6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E27DE4-064B-57BB-D63C-87100139D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D02D4-E9B3-2048-A0F4-B6FCED8136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650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59D25C-CCB1-1CCA-5AAD-D0DFC5E5A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1A8F6-2A0A-A941-B371-9DE66F44FA7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FCD66E-7DE6-AC47-3033-6C1E5C695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5129B-B949-8371-F830-AD134F3FA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D02D4-E9B3-2048-A0F4-B6FCED8136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454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4C64E-7ADD-F520-CC07-E7F369D12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506C4-0ED2-A471-588F-3BACEF6AC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211CA5-C183-C5DB-E167-BD18B1BBA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5FB6D0-A3D1-26B9-F451-F9375FA85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1A8F6-2A0A-A941-B371-9DE66F44FA7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CB28B8-8C9E-62C3-0CF2-084615707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9FB564-EE48-E623-2148-720E490CE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D02D4-E9B3-2048-A0F4-B6FCED8136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936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AA58D-55D9-385D-C379-E40D3DF23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B126A6-975C-6E08-9608-1EA9CCB8C2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103CE0-7FF4-B5A6-1023-7464060654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E821FA-E318-041C-0F00-8CEA412AC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1A8F6-2A0A-A941-B371-9DE66F44FA7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AFF0F5-2F18-9081-BFC9-F38CA4A9D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9E319A-C597-8F11-B469-55133615C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D02D4-E9B3-2048-A0F4-B6FCED8136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372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8A44C-D130-1D2B-B73C-D4E5B646F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E8ED66-FA0E-06A3-58F7-321F65E4D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B092E-FAAD-6FCD-C111-C19A60999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1A8F6-2A0A-A941-B371-9DE66F44FA7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7D8E5E-243D-5DCA-7885-AAFEDD5EC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F90E7-6B37-3A69-79A2-80BE7E0C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D02D4-E9B3-2048-A0F4-B6FCED8136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604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EBF0B2-0155-F00B-3D4B-AC481797CC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5C1DD1-CFAD-6342-7B90-DB706AC7EE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80DBC-1715-7CFB-61D3-121A35127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1A8F6-2A0A-A941-B371-9DE66F44FA7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44BEE-1FBF-2729-C6A4-52B01AE02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90D14-E7E6-B845-2346-B002DD97D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D02D4-E9B3-2048-A0F4-B6FCED8136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755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9D243B-55DD-C527-0BD3-3D2FC0828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A7C03E-9030-A021-BEE8-1A1CE49C63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B2E91-E844-EA13-BDF5-9ECAC4A27C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D1A8F6-2A0A-A941-B371-9DE66F44FA7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12E3C-886A-D7DD-5CCA-75116DFBA6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D1B9ED-1EFC-B20A-2A66-9903DEEDA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8D02D4-E9B3-2048-A0F4-B6FCED8136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915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6CF60-4715-CB4F-72D6-D61645A294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Forecasting Changes in Jobs for Private and Govt Roles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63DA45-5960-7110-8888-987EB97D7B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Jennifer Lee</a:t>
            </a:r>
          </a:p>
        </p:txBody>
      </p:sp>
    </p:spTree>
    <p:extLst>
      <p:ext uri="{BB962C8B-B14F-4D97-AF65-F5344CB8AC3E}">
        <p14:creationId xmlns:p14="http://schemas.microsoft.com/office/powerpoint/2010/main" val="240572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B00F6F-6AE7-CA31-87F8-6B03B052A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The Problem: Job Changes Per Month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4061A59-CEFD-B621-B454-945513B538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7426768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697586A-7B21-6A72-EFBD-8ED863B63E1A}"/>
              </a:ext>
            </a:extLst>
          </p:cNvPr>
          <p:cNvSpPr txBox="1"/>
          <p:nvPr/>
        </p:nvSpPr>
        <p:spPr>
          <a:xfrm>
            <a:off x="0" y="1021278"/>
            <a:ext cx="640079" cy="1021278"/>
          </a:xfrm>
          <a:prstGeom prst="rect">
            <a:avLst/>
          </a:prstGeom>
          <a:solidFill>
            <a:srgbClr val="DEE4FF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887DE4-61E9-ED40-1F24-94A7DA4AB4B6}"/>
              </a:ext>
            </a:extLst>
          </p:cNvPr>
          <p:cNvSpPr txBox="1"/>
          <p:nvPr/>
        </p:nvSpPr>
        <p:spPr>
          <a:xfrm>
            <a:off x="731525" y="6400674"/>
            <a:ext cx="10622275" cy="169277"/>
          </a:xfrm>
          <a:prstGeom prst="rect">
            <a:avLst/>
          </a:prstGeom>
          <a:solidFill>
            <a:srgbClr val="DEE4FF"/>
          </a:solidFill>
        </p:spPr>
        <p:txBody>
          <a:bodyPr wrap="square" rtlCol="0">
            <a:spAutoFit/>
          </a:bodyPr>
          <a:lstStyle/>
          <a:p>
            <a:endParaRPr lang="en-US" sz="500" dirty="0"/>
          </a:p>
        </p:txBody>
      </p:sp>
    </p:spTree>
    <p:extLst>
      <p:ext uri="{BB962C8B-B14F-4D97-AF65-F5344CB8AC3E}">
        <p14:creationId xmlns:p14="http://schemas.microsoft.com/office/powerpoint/2010/main" val="1418006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5EFDAE-923E-9410-C013-720BED28A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6501" y="489508"/>
            <a:ext cx="5754896" cy="1667569"/>
          </a:xfrm>
        </p:spPr>
        <p:txBody>
          <a:bodyPr anchor="b">
            <a:normAutofit/>
          </a:bodyPr>
          <a:lstStyle/>
          <a:p>
            <a:r>
              <a:rPr lang="en-US" sz="4000" dirty="0"/>
              <a:t>The Data: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2A996-202C-62D2-457C-D18C9BD1E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6502" y="2405894"/>
            <a:ext cx="5754896" cy="3197464"/>
          </a:xfrm>
        </p:spPr>
        <p:txBody>
          <a:bodyPr anchor="t">
            <a:normAutofit/>
          </a:bodyPr>
          <a:lstStyle/>
          <a:p>
            <a:r>
              <a:rPr lang="en-US" sz="2500" dirty="0"/>
              <a:t>Data Source: Bureau  of Labor and Statistics </a:t>
            </a:r>
          </a:p>
          <a:p>
            <a:r>
              <a:rPr lang="en-US" sz="2500" dirty="0"/>
              <a:t>Produce monthly reports the US market and economy (employment, inflation, salary, </a:t>
            </a:r>
            <a:r>
              <a:rPr lang="en-US" sz="2500" dirty="0" err="1"/>
              <a:t>etc</a:t>
            </a:r>
            <a:r>
              <a:rPr lang="en-US" sz="2500" dirty="0"/>
              <a:t>) </a:t>
            </a:r>
          </a:p>
          <a:p>
            <a:r>
              <a:rPr lang="en-US" sz="2500" dirty="0"/>
              <a:t>Data is audited, methods are published, and quality controls are uses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93C98C9-F2AF-0E4E-FBEB-B56E645A86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5387446"/>
              </p:ext>
            </p:extLst>
          </p:nvPr>
        </p:nvGraphicFramePr>
        <p:xfrm>
          <a:off x="629392" y="1958352"/>
          <a:ext cx="4050414" cy="3037156"/>
        </p:xfrm>
        <a:graphic>
          <a:graphicData uri="http://schemas.openxmlformats.org/drawingml/2006/table">
            <a:tbl>
              <a:tblPr firstRow="1" bandRow="1"/>
              <a:tblGrid>
                <a:gridCol w="788042">
                  <a:extLst>
                    <a:ext uri="{9D8B030D-6E8A-4147-A177-3AD203B41FA5}">
                      <a16:colId xmlns:a16="http://schemas.microsoft.com/office/drawing/2014/main" val="1095350639"/>
                    </a:ext>
                  </a:extLst>
                </a:gridCol>
                <a:gridCol w="524428">
                  <a:extLst>
                    <a:ext uri="{9D8B030D-6E8A-4147-A177-3AD203B41FA5}">
                      <a16:colId xmlns:a16="http://schemas.microsoft.com/office/drawing/2014/main" val="3512130152"/>
                    </a:ext>
                  </a:extLst>
                </a:gridCol>
                <a:gridCol w="738813">
                  <a:extLst>
                    <a:ext uri="{9D8B030D-6E8A-4147-A177-3AD203B41FA5}">
                      <a16:colId xmlns:a16="http://schemas.microsoft.com/office/drawing/2014/main" val="2632910631"/>
                    </a:ext>
                  </a:extLst>
                </a:gridCol>
                <a:gridCol w="835684">
                  <a:extLst>
                    <a:ext uri="{9D8B030D-6E8A-4147-A177-3AD203B41FA5}">
                      <a16:colId xmlns:a16="http://schemas.microsoft.com/office/drawing/2014/main" val="2993564117"/>
                    </a:ext>
                  </a:extLst>
                </a:gridCol>
                <a:gridCol w="842452">
                  <a:extLst>
                    <a:ext uri="{9D8B030D-6E8A-4147-A177-3AD203B41FA5}">
                      <a16:colId xmlns:a16="http://schemas.microsoft.com/office/drawing/2014/main" val="1418912131"/>
                    </a:ext>
                  </a:extLst>
                </a:gridCol>
                <a:gridCol w="44424">
                  <a:extLst>
                    <a:ext uri="{9D8B030D-6E8A-4147-A177-3AD203B41FA5}">
                      <a16:colId xmlns:a16="http://schemas.microsoft.com/office/drawing/2014/main" val="2222734826"/>
                    </a:ext>
                  </a:extLst>
                </a:gridCol>
                <a:gridCol w="143299">
                  <a:extLst>
                    <a:ext uri="{9D8B030D-6E8A-4147-A177-3AD203B41FA5}">
                      <a16:colId xmlns:a16="http://schemas.microsoft.com/office/drawing/2014/main" val="4046364600"/>
                    </a:ext>
                  </a:extLst>
                </a:gridCol>
                <a:gridCol w="44424">
                  <a:extLst>
                    <a:ext uri="{9D8B030D-6E8A-4147-A177-3AD203B41FA5}">
                      <a16:colId xmlns:a16="http://schemas.microsoft.com/office/drawing/2014/main" val="2948614200"/>
                    </a:ext>
                  </a:extLst>
                </a:gridCol>
                <a:gridCol w="44424">
                  <a:extLst>
                    <a:ext uri="{9D8B030D-6E8A-4147-A177-3AD203B41FA5}">
                      <a16:colId xmlns:a16="http://schemas.microsoft.com/office/drawing/2014/main" val="2095411799"/>
                    </a:ext>
                  </a:extLst>
                </a:gridCol>
                <a:gridCol w="44424">
                  <a:extLst>
                    <a:ext uri="{9D8B030D-6E8A-4147-A177-3AD203B41FA5}">
                      <a16:colId xmlns:a16="http://schemas.microsoft.com/office/drawing/2014/main" val="3674848098"/>
                    </a:ext>
                  </a:extLst>
                </a:gridCol>
              </a:tblGrid>
              <a:tr h="27043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Variable 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BE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Variable Name 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BE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Measured Units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BE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Allowed Values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BE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Description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BE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0857771"/>
                  </a:ext>
                </a:extLst>
              </a:tr>
              <a:tr h="38841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Date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Date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mm/dd/yyyy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01/01/2007-12/01/2019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Date the statistic was publsihed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3531367"/>
                  </a:ext>
                </a:extLst>
              </a:tr>
              <a:tr h="27043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Month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Mon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Text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Jan-Dec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Month of the report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4994541"/>
                  </a:ext>
                </a:extLst>
              </a:tr>
              <a:tr h="8443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Year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Year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Numeric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2007-2019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Year of the report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205021"/>
                  </a:ext>
                </a:extLst>
              </a:tr>
              <a:tr h="107751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 Jobs (Private and Government)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Jobs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Numeric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0-10000000000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Numeric Change between Jobs in current month to previous, in thousands </a:t>
                      </a:r>
                    </a:p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06" marR="7106" marT="710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966" marR="7966" marT="79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966" marR="7966" marT="79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966" marR="7966" marT="79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966" marR="7966" marT="79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966" marR="7966" marT="796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065838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91F2A18-6B43-FC31-EA60-863A589E82FF}"/>
              </a:ext>
            </a:extLst>
          </p:cNvPr>
          <p:cNvSpPr txBox="1"/>
          <p:nvPr/>
        </p:nvSpPr>
        <p:spPr>
          <a:xfrm>
            <a:off x="4334494" y="1958352"/>
            <a:ext cx="345311" cy="292388"/>
          </a:xfrm>
          <a:prstGeom prst="rect">
            <a:avLst/>
          </a:prstGeom>
          <a:solidFill>
            <a:srgbClr val="B9BED5"/>
          </a:solidFill>
        </p:spPr>
        <p:txBody>
          <a:bodyPr wrap="square" rtlCol="0">
            <a:spAutoFit/>
          </a:bodyPr>
          <a:lstStyle/>
          <a:p>
            <a:endParaRPr lang="en-US" sz="13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37F434-47D3-5C36-CC1A-32D6474C6233}"/>
              </a:ext>
            </a:extLst>
          </p:cNvPr>
          <p:cNvSpPr txBox="1"/>
          <p:nvPr/>
        </p:nvSpPr>
        <p:spPr>
          <a:xfrm>
            <a:off x="0" y="6400372"/>
            <a:ext cx="12191998" cy="461665"/>
          </a:xfrm>
          <a:prstGeom prst="rect">
            <a:avLst/>
          </a:prstGeom>
          <a:solidFill>
            <a:srgbClr val="DEE4FF"/>
          </a:solidFill>
        </p:spPr>
        <p:txBody>
          <a:bodyPr wrap="square" rtlCol="0">
            <a:spAutoFit/>
          </a:bodyPr>
          <a:lstStyle/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41235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Slide Background">
            <a:extLst>
              <a:ext uri="{FF2B5EF4-FFF2-40B4-BE49-F238E27FC236}">
                <a16:creationId xmlns:a16="http://schemas.microsoft.com/office/drawing/2014/main" id="{EEDFD83B-474E-42D8-99FD-250991624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18AC0D4-F32D-4067-9F63-E553F4AFF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3429000"/>
          </a:xfrm>
          <a:prstGeom prst="rect">
            <a:avLst/>
          </a:prstGeom>
          <a:ln>
            <a:noFill/>
          </a:ln>
          <a:effectLst>
            <a:outerShdw blurRad="444500" dist="152400" dir="5400000" sx="94000" sy="94000" algn="t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4DA415-9B5B-6693-E33B-7B9C2BF9C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384047"/>
            <a:ext cx="4730349" cy="2658201"/>
          </a:xfrm>
        </p:spPr>
        <p:txBody>
          <a:bodyPr anchor="ctr">
            <a:normAutofit/>
          </a:bodyPr>
          <a:lstStyle/>
          <a:p>
            <a:r>
              <a:rPr lang="en-US" sz="4000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5AD81-992D-0640-E82D-5D7C513D3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384048"/>
            <a:ext cx="5257799" cy="2658201"/>
          </a:xfrm>
        </p:spPr>
        <p:txBody>
          <a:bodyPr anchor="ctr">
            <a:normAutofit/>
          </a:bodyPr>
          <a:lstStyle/>
          <a:p>
            <a:r>
              <a:rPr lang="en-US" sz="2000" dirty="0"/>
              <a:t>Chose to forecast beyond 2010</a:t>
            </a:r>
          </a:p>
          <a:p>
            <a:r>
              <a:rPr lang="en-US" sz="2000" dirty="0"/>
              <a:t>Choose MAPE as accuracy measure, as self comparison highlights true error</a:t>
            </a:r>
          </a:p>
        </p:txBody>
      </p:sp>
      <p:pic>
        <p:nvPicPr>
          <p:cNvPr id="7" name="Picture 6" descr="A graph with lines and numbers&#10;&#10;AI-generated content may be incorrect.">
            <a:extLst>
              <a:ext uri="{FF2B5EF4-FFF2-40B4-BE49-F238E27FC236}">
                <a16:creationId xmlns:a16="http://schemas.microsoft.com/office/drawing/2014/main" id="{7502D643-43A5-AA9E-F96F-388B3D13C7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3595" y="3813047"/>
            <a:ext cx="3707047" cy="2450764"/>
          </a:xfrm>
          <a:prstGeom prst="rect">
            <a:avLst/>
          </a:prstGeom>
        </p:spPr>
      </p:pic>
      <p:pic>
        <p:nvPicPr>
          <p:cNvPr id="5" name="Content Placeholder 4" descr="A document with text on it&#10;&#10;AI-generated content may be incorrect.">
            <a:extLst>
              <a:ext uri="{FF2B5EF4-FFF2-40B4-BE49-F238E27FC236}">
                <a16:creationId xmlns:a16="http://schemas.microsoft.com/office/drawing/2014/main" id="{90628813-47C0-C1FE-1630-E57E4F0216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0895" y="3797089"/>
            <a:ext cx="3670207" cy="2450764"/>
          </a:xfrm>
          <a:prstGeom prst="rect">
            <a:avLst/>
          </a:prstGeom>
          <a:effectLst/>
        </p:spPr>
      </p:pic>
      <p:pic>
        <p:nvPicPr>
          <p:cNvPr id="4" name="Picture 3" descr="A graph showing a graph of time and time&#10;&#10;AI-generated content may be incorrect.">
            <a:extLst>
              <a:ext uri="{FF2B5EF4-FFF2-40B4-BE49-F238E27FC236}">
                <a16:creationId xmlns:a16="http://schemas.microsoft.com/office/drawing/2014/main" id="{39B66FC4-DA33-C1A5-575E-D6FF5918C1E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302"/>
          <a:stretch/>
        </p:blipFill>
        <p:spPr>
          <a:xfrm>
            <a:off x="167071" y="3813047"/>
            <a:ext cx="3731387" cy="2434806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073752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4F689-5676-3032-B973-A8639E213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3237"/>
          </a:xfrm>
        </p:spPr>
        <p:txBody>
          <a:bodyPr>
            <a:normAutofit fontScale="90000"/>
          </a:bodyPr>
          <a:lstStyle/>
          <a:p>
            <a:r>
              <a:rPr lang="en-US" dirty="0"/>
              <a:t>Data Exploration Past 2010</a:t>
            </a:r>
          </a:p>
        </p:txBody>
      </p:sp>
      <p:pic>
        <p:nvPicPr>
          <p:cNvPr id="9" name="Picture 8" descr="A graph with blue lines&#10;&#10;AI-generated content may be incorrect.">
            <a:extLst>
              <a:ext uri="{FF2B5EF4-FFF2-40B4-BE49-F238E27FC236}">
                <a16:creationId xmlns:a16="http://schemas.microsoft.com/office/drawing/2014/main" id="{0D37CA41-5262-8153-CAD9-09E98BD14F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30"/>
          <a:stretch/>
        </p:blipFill>
        <p:spPr>
          <a:xfrm>
            <a:off x="6938682" y="3807897"/>
            <a:ext cx="4772938" cy="3050103"/>
          </a:xfrm>
          <a:prstGeom prst="rect">
            <a:avLst/>
          </a:prstGeom>
        </p:spPr>
      </p:pic>
      <p:pic>
        <p:nvPicPr>
          <p:cNvPr id="11" name="Picture 10" descr="A graph with a line&#10;&#10;AI-generated content may be incorrect.">
            <a:extLst>
              <a:ext uri="{FF2B5EF4-FFF2-40B4-BE49-F238E27FC236}">
                <a16:creationId xmlns:a16="http://schemas.microsoft.com/office/drawing/2014/main" id="{C1ED22FD-C1E0-8C05-50B2-CF311C6893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82" t="10235" r="1448"/>
          <a:stretch/>
        </p:blipFill>
        <p:spPr>
          <a:xfrm>
            <a:off x="3667515" y="1252273"/>
            <a:ext cx="4856970" cy="2271712"/>
          </a:xfrm>
          <a:prstGeom prst="rect">
            <a:avLst/>
          </a:prstGeom>
        </p:spPr>
      </p:pic>
      <p:pic>
        <p:nvPicPr>
          <p:cNvPr id="15" name="Picture 14" descr="A diagram of a blue box&#10;&#10;AI-generated content may be incorrect.">
            <a:extLst>
              <a:ext uri="{FF2B5EF4-FFF2-40B4-BE49-F238E27FC236}">
                <a16:creationId xmlns:a16="http://schemas.microsoft.com/office/drawing/2014/main" id="{3C86B2A2-D773-FC71-D527-18FD405EA8E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22" r="-1"/>
          <a:stretch/>
        </p:blipFill>
        <p:spPr>
          <a:xfrm>
            <a:off x="480380" y="3807896"/>
            <a:ext cx="4772938" cy="3050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050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C98A213-5994-475E-B327-DC6EC27FB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46F645-F377-BA67-4C01-054B2F1E1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36576"/>
            <a:ext cx="10909640" cy="169947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dirty="0"/>
              <a:t>Results form Naïve, MA 14, SES, and HoltWinters</a:t>
            </a: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4B030A0D-0DAD-4A99-89BB-419527D6A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9376" y="1800088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Content Placeholder 10" descr="A black text with blue text&#10;&#10;AI-generated content may be incorrect.">
            <a:extLst>
              <a:ext uri="{FF2B5EF4-FFF2-40B4-BE49-F238E27FC236}">
                <a16:creationId xmlns:a16="http://schemas.microsoft.com/office/drawing/2014/main" id="{26FA8DE7-80CA-615F-A05E-9E382A9FCF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7573"/>
          <a:stretch/>
        </p:blipFill>
        <p:spPr>
          <a:xfrm>
            <a:off x="6883180" y="4295853"/>
            <a:ext cx="4025315" cy="2358580"/>
          </a:xfrm>
          <a:prstGeom prst="rect">
            <a:avLst/>
          </a:prstGeom>
        </p:spPr>
      </p:pic>
      <p:pic>
        <p:nvPicPr>
          <p:cNvPr id="15" name="Picture 14" descr="A graph with blue lines&#10;&#10;AI-generated content may be incorrect.">
            <a:extLst>
              <a:ext uri="{FF2B5EF4-FFF2-40B4-BE49-F238E27FC236}">
                <a16:creationId xmlns:a16="http://schemas.microsoft.com/office/drawing/2014/main" id="{3E3706C9-8266-17E9-9DAB-EA3424727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2563" y="4295853"/>
            <a:ext cx="4033624" cy="2358580"/>
          </a:xfrm>
          <a:prstGeom prst="rect">
            <a:avLst/>
          </a:prstGeom>
        </p:spPr>
      </p:pic>
      <p:pic>
        <p:nvPicPr>
          <p:cNvPr id="21" name="Picture 20" descr="A graph of a graph showing the time of a wave&#10;&#10;AI-generated content may be incorrect.">
            <a:extLst>
              <a:ext uri="{FF2B5EF4-FFF2-40B4-BE49-F238E27FC236}">
                <a16:creationId xmlns:a16="http://schemas.microsoft.com/office/drawing/2014/main" id="{8D763B09-B849-E13F-5A9C-7F6E808C99F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54" t="5760" r="3288" b="7312"/>
          <a:stretch/>
        </p:blipFill>
        <p:spPr>
          <a:xfrm>
            <a:off x="6883181" y="1636824"/>
            <a:ext cx="4025315" cy="2358580"/>
          </a:xfrm>
          <a:prstGeom prst="rect">
            <a:avLst/>
          </a:prstGeom>
        </p:spPr>
      </p:pic>
      <p:pic>
        <p:nvPicPr>
          <p:cNvPr id="23" name="Picture 22" descr="A graph with blue lines&#10;&#10;AI-generated content may be incorrect.">
            <a:extLst>
              <a:ext uri="{FF2B5EF4-FFF2-40B4-BE49-F238E27FC236}">
                <a16:creationId xmlns:a16="http://schemas.microsoft.com/office/drawing/2014/main" id="{2CAFA18F-6B6A-B42C-F561-F6A411EBF8E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288" b="4429"/>
          <a:stretch/>
        </p:blipFill>
        <p:spPr>
          <a:xfrm>
            <a:off x="1372563" y="1636824"/>
            <a:ext cx="4033624" cy="235858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8505F8C-6094-A532-B8D6-13C5C70BE8F4}"/>
              </a:ext>
            </a:extLst>
          </p:cNvPr>
          <p:cNvSpPr txBox="1"/>
          <p:nvPr/>
        </p:nvSpPr>
        <p:spPr>
          <a:xfrm>
            <a:off x="5406187" y="1636824"/>
            <a:ext cx="1476993" cy="665312"/>
          </a:xfrm>
          <a:prstGeom prst="rect">
            <a:avLst/>
          </a:prstGeom>
          <a:solidFill>
            <a:srgbClr val="DEE4FF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2204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761DDFE-071F-4200-B0AA-394476C2D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C8D67E-1F13-1DE0-4381-5C18106C8EFA}"/>
              </a:ext>
            </a:extLst>
          </p:cNvPr>
          <p:cNvSpPr/>
          <p:nvPr/>
        </p:nvSpPr>
        <p:spPr>
          <a:xfrm>
            <a:off x="0" y="0"/>
            <a:ext cx="12188951" cy="2228333"/>
          </a:xfrm>
          <a:prstGeom prst="rect">
            <a:avLst/>
          </a:prstGeom>
          <a:solidFill>
            <a:srgbClr val="DEE4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6A7C62-CE5E-4BE2-25C9-3DB84A718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547815"/>
            <a:ext cx="5167185" cy="16805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/>
              <a:t>Recommendation: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7D437D-E6AC-A5CA-62EE-FD1322BC2D5F}"/>
              </a:ext>
            </a:extLst>
          </p:cNvPr>
          <p:cNvSpPr txBox="1"/>
          <p:nvPr/>
        </p:nvSpPr>
        <p:spPr>
          <a:xfrm>
            <a:off x="6186619" y="547815"/>
            <a:ext cx="5178960" cy="16805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HoltWinters has the best Mape, Residual Analysis shows white noise</a:t>
            </a:r>
          </a:p>
        </p:txBody>
      </p:sp>
      <p:pic>
        <p:nvPicPr>
          <p:cNvPr id="4" name="Content Placeholder 3" descr="A graph of a graph showing the weather&#10;&#10;AI-generated content may be incorrect.">
            <a:extLst>
              <a:ext uri="{FF2B5EF4-FFF2-40B4-BE49-F238E27FC236}">
                <a16:creationId xmlns:a16="http://schemas.microsoft.com/office/drawing/2014/main" id="{3AA1BEE3-E838-283D-CA82-3E1E50F4BE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7726" y="4549587"/>
            <a:ext cx="3716168" cy="2285442"/>
          </a:xfrm>
          <a:prstGeom prst="rect">
            <a:avLst/>
          </a:prstGeom>
        </p:spPr>
      </p:pic>
      <p:pic>
        <p:nvPicPr>
          <p:cNvPr id="12" name="Picture 11" descr="A graph with blue dots&#10;&#10;AI-generated content may be incorrect.">
            <a:extLst>
              <a:ext uri="{FF2B5EF4-FFF2-40B4-BE49-F238E27FC236}">
                <a16:creationId xmlns:a16="http://schemas.microsoft.com/office/drawing/2014/main" id="{5C56A987-170D-9E8D-5461-A419965238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99"/>
          <a:stretch/>
        </p:blipFill>
        <p:spPr>
          <a:xfrm>
            <a:off x="6217280" y="4475851"/>
            <a:ext cx="3700938" cy="2285442"/>
          </a:xfrm>
          <a:prstGeom prst="rect">
            <a:avLst/>
          </a:prstGeom>
        </p:spPr>
      </p:pic>
      <p:pic>
        <p:nvPicPr>
          <p:cNvPr id="15" name="Picture 14" descr="A graph with blue dots&#10;&#10;AI-generated content may be incorrect.">
            <a:extLst>
              <a:ext uri="{FF2B5EF4-FFF2-40B4-BE49-F238E27FC236}">
                <a16:creationId xmlns:a16="http://schemas.microsoft.com/office/drawing/2014/main" id="{29125936-67FF-14B9-21E8-10EADEC1415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60" t="6221"/>
          <a:stretch/>
        </p:blipFill>
        <p:spPr>
          <a:xfrm>
            <a:off x="1127725" y="2323653"/>
            <a:ext cx="3716169" cy="2294848"/>
          </a:xfrm>
          <a:prstGeom prst="rect">
            <a:avLst/>
          </a:prstGeom>
        </p:spPr>
      </p:pic>
      <p:pic>
        <p:nvPicPr>
          <p:cNvPr id="17" name="Picture 16" descr="A graph with lines and numbers&#10;&#10;AI-generated content may be incorrect.">
            <a:extLst>
              <a:ext uri="{FF2B5EF4-FFF2-40B4-BE49-F238E27FC236}">
                <a16:creationId xmlns:a16="http://schemas.microsoft.com/office/drawing/2014/main" id="{F9E2CFE2-D4F0-1676-D98B-D1E6CD67AEE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943"/>
          <a:stretch/>
        </p:blipFill>
        <p:spPr>
          <a:xfrm>
            <a:off x="6217281" y="2323653"/>
            <a:ext cx="3669413" cy="2157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71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A176D9-1C0F-F52F-8511-B683F7E70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AE62A12-634D-307D-50AD-887A57A484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4984B3-3284-6ECB-FE5D-6ADE75B90EF8}"/>
              </a:ext>
            </a:extLst>
          </p:cNvPr>
          <p:cNvSpPr/>
          <p:nvPr/>
        </p:nvSpPr>
        <p:spPr>
          <a:xfrm>
            <a:off x="0" y="0"/>
            <a:ext cx="12188951" cy="2228333"/>
          </a:xfrm>
          <a:prstGeom prst="rect">
            <a:avLst/>
          </a:prstGeom>
          <a:solidFill>
            <a:srgbClr val="DEE4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88D5C7-8BB7-0952-3C55-CFC426E0B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547815"/>
            <a:ext cx="5167185" cy="16805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/>
              <a:t>Forecast Conclusion: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55BB5F-3A50-134F-40D3-5B90D3C600D9}"/>
              </a:ext>
            </a:extLst>
          </p:cNvPr>
          <p:cNvSpPr txBox="1"/>
          <p:nvPr/>
        </p:nvSpPr>
        <p:spPr>
          <a:xfrm>
            <a:off x="6186619" y="547815"/>
            <a:ext cx="5178960" cy="16805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HoltWinters has the best Mape and best ME. In actuality, performed the second best in predicting October 2020</a:t>
            </a:r>
          </a:p>
        </p:txBody>
      </p:sp>
      <p:pic>
        <p:nvPicPr>
          <p:cNvPr id="4" name="Content Placeholder 3" descr="A graph of a graph showing the weather&#10;&#10;AI-generated content may be incorrect.">
            <a:extLst>
              <a:ext uri="{FF2B5EF4-FFF2-40B4-BE49-F238E27FC236}">
                <a16:creationId xmlns:a16="http://schemas.microsoft.com/office/drawing/2014/main" id="{24B96199-10D9-5FF2-CA43-05D95F4798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8" y="2688588"/>
            <a:ext cx="5167185" cy="3177817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F8C89DD-CE64-F916-3B85-79048B0B84A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84" t="6684" b="2423"/>
          <a:stretch/>
        </p:blipFill>
        <p:spPr>
          <a:xfrm>
            <a:off x="6278781" y="2688588"/>
            <a:ext cx="5075021" cy="288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298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89ACAB-B8A1-7663-740E-79C1380D4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9AEF21-35F1-A558-2222-ACF687159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 dirty="0"/>
              <a:t>Ideas to improve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C9B49-5BE4-DA63-3EC3-2425A8EF9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527126"/>
            <a:ext cx="5334197" cy="5712954"/>
          </a:xfrm>
        </p:spPr>
        <p:txBody>
          <a:bodyPr anchor="ctr">
            <a:normAutofit/>
          </a:bodyPr>
          <a:lstStyle/>
          <a:p>
            <a:r>
              <a:rPr lang="en-US" sz="2600" dirty="0"/>
              <a:t>Run multiple models to find the best MA</a:t>
            </a:r>
          </a:p>
          <a:p>
            <a:r>
              <a:rPr lang="en-US" sz="2600" dirty="0"/>
              <a:t>Plot Mape overtime</a:t>
            </a:r>
          </a:p>
        </p:txBody>
      </p:sp>
      <p:pic>
        <p:nvPicPr>
          <p:cNvPr id="5" name="Picture 4" descr="Angled shot of pen on a graph">
            <a:extLst>
              <a:ext uri="{FF2B5EF4-FFF2-40B4-BE49-F238E27FC236}">
                <a16:creationId xmlns:a16="http://schemas.microsoft.com/office/drawing/2014/main" id="{8295C702-E446-41AA-0289-4585DCE90A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49" r="42815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93928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CF06E-2A5C-E224-E597-AFE8D27023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285533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8223</TotalTime>
  <Words>388</Words>
  <Application>Microsoft Macintosh PowerPoint</Application>
  <PresentationFormat>Widescreen</PresentationFormat>
  <Paragraphs>78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Aptos Narrow</vt:lpstr>
      <vt:lpstr>Arial</vt:lpstr>
      <vt:lpstr>Office Theme</vt:lpstr>
      <vt:lpstr>Forecasting Changes in Jobs for Private and Govt Roles</vt:lpstr>
      <vt:lpstr>The Problem: Job Changes Per Month</vt:lpstr>
      <vt:lpstr>The Data:</vt:lpstr>
      <vt:lpstr>Methodology</vt:lpstr>
      <vt:lpstr>Data Exploration Past 2010</vt:lpstr>
      <vt:lpstr>Results form Naïve, MA 14, SES, and HoltWinters</vt:lpstr>
      <vt:lpstr>Recommendation:</vt:lpstr>
      <vt:lpstr>Forecast Conclusion:</vt:lpstr>
      <vt:lpstr>Ideas to improve  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Jennifer Lee</dc:creator>
  <cp:lastModifiedBy>Jennifer Lee</cp:lastModifiedBy>
  <cp:revision>10</cp:revision>
  <dcterms:created xsi:type="dcterms:W3CDTF">2025-11-11T22:25:59Z</dcterms:created>
  <dcterms:modified xsi:type="dcterms:W3CDTF">2025-11-17T15:29:08Z</dcterms:modified>
</cp:coreProperties>
</file>